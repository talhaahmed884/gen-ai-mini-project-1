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71" r:id="rId2"/>
  </p:sldMasterIdLst>
  <p:notesMasterIdLst>
    <p:notesMasterId r:id="rId14"/>
  </p:notesMasterIdLst>
  <p:sldIdLst>
    <p:sldId id="256" r:id="rId3"/>
    <p:sldId id="257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E5B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32"/>
    <p:restoredTop sz="94667"/>
  </p:normalViewPr>
  <p:slideViewPr>
    <p:cSldViewPr snapToGrid="0">
      <p:cViewPr varScale="1">
        <p:scale>
          <a:sx n="160" d="100"/>
          <a:sy n="160" d="100"/>
        </p:scale>
        <p:origin x="168" y="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262AFD-6B24-5D47-912B-BCD5FFC9A9D5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93DADE-C1E9-3243-A21D-A8A76C7360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945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tBDf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9;p2"/>
          <p:cNvSpPr/>
          <p:nvPr/>
        </p:nvSpPr>
        <p:spPr>
          <a:xfrm>
            <a:off x="0" y="-8280"/>
            <a:ext cx="9143640" cy="5159520"/>
          </a:xfrm>
          <a:prstGeom prst="rect">
            <a:avLst/>
          </a:prstGeom>
          <a:solidFill>
            <a:srgbClr val="4F5B4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2215080" y="1276200"/>
            <a:ext cx="6323400" cy="2452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5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G_NUMB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47;p11"/>
          <p:cNvSpPr/>
          <p:nvPr/>
        </p:nvSpPr>
        <p:spPr>
          <a:xfrm>
            <a:off x="0" y="0"/>
            <a:ext cx="9143640" cy="515952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1284120" y="1953000"/>
            <a:ext cx="6575760" cy="799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80000"/>
              </a:lnSpc>
              <a:buNone/>
            </a:pPr>
            <a:r>
              <a:rPr lang="fr-FR" sz="6000" b="0" u="none" strike="noStrike">
                <a:solidFill>
                  <a:schemeClr val="accent1"/>
                </a:solidFill>
                <a:effectLst/>
                <a:uFillTx/>
                <a:latin typeface="Zalando Sans Expanded ExtraLight"/>
                <a:ea typeface="Zalando Sans Expanded ExtraLight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2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52;p13"/>
          <p:cNvSpPr/>
          <p:nvPr/>
        </p:nvSpPr>
        <p:spPr>
          <a:xfrm>
            <a:off x="0" y="0"/>
            <a:ext cx="9143640" cy="515952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1865520" y="387216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80000"/>
              </a:lnSpc>
              <a:buNone/>
            </a:pPr>
            <a:r>
              <a:rPr lang="fr-FR" sz="2000" b="0" u="none" strike="noStrike">
                <a:solidFill>
                  <a:schemeClr val="accent3"/>
                </a:solidFill>
                <a:effectLst/>
                <a:uFillTx/>
                <a:latin typeface="Zalando Sans Expanded Medium"/>
                <a:ea typeface="Zalando Sans Expanded Medium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title"/>
          </p:nvPr>
        </p:nvSpPr>
        <p:spPr>
          <a:xfrm>
            <a:off x="1865520" y="257976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80000"/>
              </a:lnSpc>
              <a:buNone/>
            </a:pPr>
            <a:r>
              <a:rPr lang="fr-FR" sz="2000" b="0" u="none" strike="noStrike">
                <a:solidFill>
                  <a:schemeClr val="accent3"/>
                </a:solidFill>
                <a:effectLst/>
                <a:uFillTx/>
                <a:latin typeface="Zalando Sans Expanded Medium"/>
                <a:ea typeface="Zalando Sans Expanded Medium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title"/>
          </p:nvPr>
        </p:nvSpPr>
        <p:spPr>
          <a:xfrm>
            <a:off x="1866600" y="1933560"/>
            <a:ext cx="86400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80000"/>
              </a:lnSpc>
              <a:buNone/>
            </a:pPr>
            <a:r>
              <a:rPr lang="fr-FR" sz="2000" b="0" u="none" strike="noStrike">
                <a:solidFill>
                  <a:schemeClr val="accent3"/>
                </a:solidFill>
                <a:effectLst/>
                <a:uFillTx/>
                <a:latin typeface="Zalando Sans Expanded Medium"/>
                <a:ea typeface="Zalando Sans Expanded Medium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title"/>
          </p:nvPr>
        </p:nvSpPr>
        <p:spPr>
          <a:xfrm>
            <a:off x="1865520" y="322596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80000"/>
              </a:lnSpc>
              <a:buNone/>
            </a:pPr>
            <a:r>
              <a:rPr lang="fr-FR" sz="2000" b="0" u="none" strike="noStrike">
                <a:solidFill>
                  <a:schemeClr val="accent3"/>
                </a:solidFill>
                <a:effectLst/>
                <a:uFillTx/>
                <a:latin typeface="Zalando Sans Expanded Medium"/>
                <a:ea typeface="Zalando Sans Expanded Medium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title"/>
          </p:nvPr>
        </p:nvSpPr>
        <p:spPr>
          <a:xfrm>
            <a:off x="5622840" y="257976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80000"/>
              </a:lnSpc>
              <a:buNone/>
            </a:pPr>
            <a:r>
              <a:rPr lang="fr-FR" sz="2000" b="0" u="none" strike="noStrike">
                <a:solidFill>
                  <a:schemeClr val="accent3"/>
                </a:solidFill>
                <a:effectLst/>
                <a:uFillTx/>
                <a:latin typeface="Zalando Sans Expanded Medium"/>
                <a:ea typeface="Zalando Sans Expanded Medium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6"/>
          <p:cNvSpPr>
            <a:spLocks noGrp="1"/>
          </p:cNvSpPr>
          <p:nvPr>
            <p:ph type="title"/>
          </p:nvPr>
        </p:nvSpPr>
        <p:spPr>
          <a:xfrm>
            <a:off x="5622840" y="322596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80000"/>
              </a:lnSpc>
              <a:buNone/>
            </a:pPr>
            <a:r>
              <a:rPr lang="fr-FR" sz="2000" b="0" u="none" strike="noStrike">
                <a:solidFill>
                  <a:schemeClr val="accent3"/>
                </a:solidFill>
                <a:effectLst/>
                <a:uFillTx/>
                <a:latin typeface="Zalando Sans Expanded Medium"/>
                <a:ea typeface="Zalando Sans Expanded Medium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7"/>
          <p:cNvSpPr>
            <a:spLocks noGrp="1"/>
          </p:cNvSpPr>
          <p:nvPr>
            <p:ph type="title"/>
          </p:nvPr>
        </p:nvSpPr>
        <p:spPr>
          <a:xfrm>
            <a:off x="5622840" y="387216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80000"/>
              </a:lnSpc>
              <a:buNone/>
            </a:pPr>
            <a:r>
              <a:rPr lang="fr-FR" sz="2000" b="0" u="none" strike="noStrike">
                <a:solidFill>
                  <a:schemeClr val="accent3"/>
                </a:solidFill>
                <a:effectLst/>
                <a:uFillTx/>
                <a:latin typeface="Zalando Sans Expanded Medium"/>
                <a:ea typeface="Zalando Sans Expanded Medium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8"/>
          <p:cNvSpPr>
            <a:spLocks noGrp="1"/>
          </p:cNvSpPr>
          <p:nvPr>
            <p:ph type="title"/>
          </p:nvPr>
        </p:nvSpPr>
        <p:spPr>
          <a:xfrm>
            <a:off x="5622840" y="193356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80000"/>
              </a:lnSpc>
              <a:buNone/>
            </a:pPr>
            <a:r>
              <a:rPr lang="fr-FR" sz="2000" b="0" u="none" strike="noStrike">
                <a:solidFill>
                  <a:schemeClr val="accent3"/>
                </a:solidFill>
                <a:effectLst/>
                <a:uFillTx/>
                <a:latin typeface="Zalando Sans Expanded Medium"/>
                <a:ea typeface="Zalando Sans Expanded Medium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9"/>
          <p:cNvSpPr>
            <a:spLocks noGrp="1"/>
          </p:cNvSpPr>
          <p:nvPr>
            <p:ph type="title"/>
          </p:nvPr>
        </p:nvSpPr>
        <p:spPr>
          <a:xfrm>
            <a:off x="4498920" y="274680"/>
            <a:ext cx="44161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71;p14"/>
          <p:cNvSpPr/>
          <p:nvPr/>
        </p:nvSpPr>
        <p:spPr>
          <a:xfrm>
            <a:off x="0" y="0"/>
            <a:ext cx="9143640" cy="515952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19040" y="471600"/>
            <a:ext cx="7486560" cy="1204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4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75;p15"/>
          <p:cNvSpPr/>
          <p:nvPr/>
        </p:nvSpPr>
        <p:spPr>
          <a:xfrm>
            <a:off x="0" y="0"/>
            <a:ext cx="9143640" cy="515952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228600" y="297720"/>
            <a:ext cx="5320440" cy="1251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943560" y="2308320"/>
            <a:ext cx="4358520" cy="1917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6345000" y="0"/>
            <a:ext cx="279828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5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ONLY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80;p16"/>
          <p:cNvSpPr/>
          <p:nvPr/>
        </p:nvSpPr>
        <p:spPr>
          <a:xfrm>
            <a:off x="0" y="0"/>
            <a:ext cx="9143640" cy="515952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228600" y="300600"/>
            <a:ext cx="2154960" cy="822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ONLY_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83;p17"/>
          <p:cNvSpPr/>
          <p:nvPr/>
        </p:nvSpPr>
        <p:spPr>
          <a:xfrm>
            <a:off x="0" y="0"/>
            <a:ext cx="9143640" cy="515952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313880" y="301320"/>
            <a:ext cx="4596120" cy="749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86;p18"/>
          <p:cNvSpPr/>
          <p:nvPr/>
        </p:nvSpPr>
        <p:spPr>
          <a:xfrm>
            <a:off x="0" y="0"/>
            <a:ext cx="9143640" cy="515952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1333440" y="2709000"/>
            <a:ext cx="67860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80000"/>
              </a:lnSpc>
              <a:buNone/>
            </a:pPr>
            <a:r>
              <a:rPr lang="fr-FR" sz="2000" b="0" u="none" strike="noStrike">
                <a:solidFill>
                  <a:schemeClr val="accent3"/>
                </a:solidFill>
                <a:effectLst/>
                <a:uFillTx/>
                <a:latin typeface="Zalando Sans Expanded Medium"/>
                <a:ea typeface="Zalando Sans Expanded Medium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title"/>
          </p:nvPr>
        </p:nvSpPr>
        <p:spPr>
          <a:xfrm>
            <a:off x="1333440" y="1585800"/>
            <a:ext cx="67752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80000"/>
              </a:lnSpc>
              <a:buNone/>
            </a:pPr>
            <a:r>
              <a:rPr lang="fr-FR" sz="2000" b="0" u="none" strike="noStrike">
                <a:solidFill>
                  <a:schemeClr val="accent3"/>
                </a:solidFill>
                <a:effectLst/>
                <a:uFillTx/>
                <a:latin typeface="Zalando Sans Expanded Medium"/>
                <a:ea typeface="Zalando Sans Expanded Medium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title"/>
          </p:nvPr>
        </p:nvSpPr>
        <p:spPr>
          <a:xfrm>
            <a:off x="1333440" y="3832200"/>
            <a:ext cx="67860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80000"/>
              </a:lnSpc>
              <a:buNone/>
            </a:pPr>
            <a:r>
              <a:rPr lang="fr-FR" sz="2000" b="0" u="none" strike="noStrike">
                <a:solidFill>
                  <a:schemeClr val="accent3"/>
                </a:solidFill>
                <a:effectLst/>
                <a:uFillTx/>
                <a:latin typeface="Zalando Sans Expanded Medium"/>
                <a:ea typeface="Zalando Sans Expanded Medium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title"/>
          </p:nvPr>
        </p:nvSpPr>
        <p:spPr>
          <a:xfrm>
            <a:off x="228600" y="297720"/>
            <a:ext cx="2022120" cy="802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95;p19"/>
          <p:cNvSpPr/>
          <p:nvPr/>
        </p:nvSpPr>
        <p:spPr>
          <a:xfrm>
            <a:off x="0" y="0"/>
            <a:ext cx="9143640" cy="515952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929840" y="300600"/>
            <a:ext cx="3985200" cy="760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3" name="PlaceHolder 2"/>
          <p:cNvSpPr>
            <a:spLocks noGrp="1"/>
          </p:cNvSpPr>
          <p:nvPr>
            <p:ph type="title"/>
          </p:nvPr>
        </p:nvSpPr>
        <p:spPr>
          <a:xfrm>
            <a:off x="7221960" y="350676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80000"/>
              </a:lnSpc>
              <a:buNone/>
            </a:pPr>
            <a:r>
              <a:rPr lang="fr-FR" sz="2000" b="0" u="none" strike="noStrike">
                <a:solidFill>
                  <a:schemeClr val="accent3"/>
                </a:solidFill>
                <a:effectLst/>
                <a:uFillTx/>
                <a:latin typeface="Zalando Sans Expanded Medium"/>
                <a:ea typeface="Zalando Sans Expanded Medium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title"/>
          </p:nvPr>
        </p:nvSpPr>
        <p:spPr>
          <a:xfrm>
            <a:off x="7221960" y="177840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80000"/>
              </a:lnSpc>
              <a:buNone/>
            </a:pPr>
            <a:r>
              <a:rPr lang="fr-FR" sz="2000" b="0" u="none" strike="noStrike">
                <a:solidFill>
                  <a:schemeClr val="accent3"/>
                </a:solidFill>
                <a:effectLst/>
                <a:uFillTx/>
                <a:latin typeface="Zalando Sans Expanded Medium"/>
                <a:ea typeface="Zalando Sans Expanded Medium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title"/>
          </p:nvPr>
        </p:nvSpPr>
        <p:spPr>
          <a:xfrm>
            <a:off x="4550400" y="1778760"/>
            <a:ext cx="86400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80000"/>
              </a:lnSpc>
              <a:buNone/>
            </a:pPr>
            <a:r>
              <a:rPr lang="fr-FR" sz="2000" b="0" u="none" strike="noStrike">
                <a:solidFill>
                  <a:schemeClr val="accent3"/>
                </a:solidFill>
                <a:effectLst/>
                <a:uFillTx/>
                <a:latin typeface="Zalando Sans Expanded Medium"/>
                <a:ea typeface="Zalando Sans Expanded Medium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title"/>
          </p:nvPr>
        </p:nvSpPr>
        <p:spPr>
          <a:xfrm>
            <a:off x="4549680" y="350676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80000"/>
              </a:lnSpc>
              <a:buNone/>
            </a:pPr>
            <a:r>
              <a:rPr lang="fr-FR" sz="2000" b="0" u="none" strike="noStrike">
                <a:solidFill>
                  <a:schemeClr val="accent3"/>
                </a:solidFill>
                <a:effectLst/>
                <a:uFillTx/>
                <a:latin typeface="Zalando Sans Expanded Medium"/>
                <a:ea typeface="Zalando Sans Expanded Medium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title"/>
          </p:nvPr>
        </p:nvSpPr>
        <p:spPr>
          <a:xfrm>
            <a:off x="1877400" y="177840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80000"/>
              </a:lnSpc>
              <a:buNone/>
            </a:pPr>
            <a:r>
              <a:rPr lang="fr-FR" sz="2000" b="0" u="none" strike="noStrike">
                <a:solidFill>
                  <a:schemeClr val="accent3"/>
                </a:solidFill>
                <a:effectLst/>
                <a:uFillTx/>
                <a:latin typeface="Zalando Sans Expanded Medium"/>
                <a:ea typeface="Zalando Sans Expanded Medium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title"/>
          </p:nvPr>
        </p:nvSpPr>
        <p:spPr>
          <a:xfrm>
            <a:off x="1877400" y="350676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80000"/>
              </a:lnSpc>
              <a:buNone/>
            </a:pPr>
            <a:r>
              <a:rPr lang="fr-FR" sz="2000" b="0" u="none" strike="noStrike">
                <a:solidFill>
                  <a:schemeClr val="accent3"/>
                </a:solidFill>
                <a:effectLst/>
                <a:uFillTx/>
                <a:latin typeface="Zalando Sans Expanded Medium"/>
                <a:ea typeface="Zalando Sans Expanded Medium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110;p20"/>
          <p:cNvSpPr/>
          <p:nvPr/>
        </p:nvSpPr>
        <p:spPr>
          <a:xfrm>
            <a:off x="0" y="0"/>
            <a:ext cx="9143640" cy="515952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621360" y="956520"/>
            <a:ext cx="5447520" cy="754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80000"/>
              </a:lnSpc>
              <a:buNone/>
            </a:pPr>
            <a:r>
              <a:rPr lang="fr-FR" sz="4500" b="0" u="none" strike="noStrike">
                <a:solidFill>
                  <a:schemeClr val="accent3"/>
                </a:solidFill>
                <a:effectLst/>
                <a:uFillTx/>
                <a:latin typeface="Zalando Sans Expanded ExtraLight"/>
                <a:ea typeface="Zalando Sans Expanded ExtraLight"/>
              </a:rPr>
              <a:t>xx%</a:t>
            </a:r>
            <a:endParaRPr lang="fr-FR" sz="4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title"/>
          </p:nvPr>
        </p:nvSpPr>
        <p:spPr>
          <a:xfrm>
            <a:off x="621360" y="3141000"/>
            <a:ext cx="5447520" cy="754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80000"/>
              </a:lnSpc>
              <a:buNone/>
            </a:pPr>
            <a:r>
              <a:rPr lang="fr-FR" sz="4500" b="0" u="none" strike="noStrike">
                <a:solidFill>
                  <a:schemeClr val="accent3"/>
                </a:solidFill>
                <a:effectLst/>
                <a:uFillTx/>
                <a:latin typeface="Zalando Sans Expanded ExtraLight"/>
                <a:ea typeface="Zalando Sans Expanded ExtraLight"/>
              </a:rPr>
              <a:t>xx%</a:t>
            </a:r>
            <a:endParaRPr lang="fr-FR" sz="4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13;p3"/>
          <p:cNvSpPr/>
          <p:nvPr/>
        </p:nvSpPr>
        <p:spPr>
          <a:xfrm>
            <a:off x="0" y="-8280"/>
            <a:ext cx="9143640" cy="5159520"/>
          </a:xfrm>
          <a:prstGeom prst="rect">
            <a:avLst/>
          </a:prstGeom>
          <a:solidFill>
            <a:srgbClr val="4F5B4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2662560" y="3397680"/>
            <a:ext cx="6134400" cy="10598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4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4" name="PlaceHolder 2"/>
          <p:cNvSpPr>
            <a:spLocks noGrp="1"/>
          </p:cNvSpPr>
          <p:nvPr>
            <p:ph type="title"/>
          </p:nvPr>
        </p:nvSpPr>
        <p:spPr>
          <a:xfrm>
            <a:off x="332280" y="228600"/>
            <a:ext cx="1267920" cy="1269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80000"/>
              </a:lnSpc>
              <a:buNone/>
            </a:pPr>
            <a:r>
              <a:rPr lang="fr-FR" sz="6000" b="0" u="none" strike="noStrike">
                <a:solidFill>
                  <a:schemeClr val="accent2"/>
                </a:solidFill>
                <a:effectLst/>
                <a:uFillTx/>
                <a:latin typeface="Zalando Sans Expanded Medium"/>
                <a:ea typeface="Zalando Sans Expanded Medium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116;p21"/>
          <p:cNvSpPr/>
          <p:nvPr/>
        </p:nvSpPr>
        <p:spPr>
          <a:xfrm>
            <a:off x="0" y="-8280"/>
            <a:ext cx="9143640" cy="5159520"/>
          </a:xfrm>
          <a:prstGeom prst="rect">
            <a:avLst/>
          </a:prstGeom>
          <a:solidFill>
            <a:srgbClr val="4F5B4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5547600" y="363600"/>
            <a:ext cx="3367440" cy="1613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5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8" name="Google Shape;119;p21"/>
          <p:cNvSpPr/>
          <p:nvPr/>
        </p:nvSpPr>
        <p:spPr>
          <a:xfrm>
            <a:off x="1965600" y="4008240"/>
            <a:ext cx="3871440" cy="555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" sz="1000" b="1" u="none" strike="noStrike">
                <a:solidFill>
                  <a:schemeClr val="accent1"/>
                </a:solidFill>
                <a:effectLst/>
                <a:uFillTx/>
                <a:latin typeface="arial"/>
                <a:ea typeface="arial"/>
              </a:rPr>
              <a:t>CREDITS:</a:t>
            </a:r>
            <a:r>
              <a:rPr lang="en" sz="1000" b="0" u="none" strike="noStrike">
                <a:solidFill>
                  <a:schemeClr val="accent1"/>
                </a:solidFill>
                <a:effectLst/>
                <a:uFillTx/>
                <a:latin typeface="arial"/>
                <a:ea typeface="arial"/>
              </a:rPr>
              <a:t> This presentation template was created by </a:t>
            </a:r>
            <a:r>
              <a:rPr lang="en" sz="1000" b="1" u="sng" strike="noStrike">
                <a:solidFill>
                  <a:schemeClr val="accent1"/>
                </a:solidFill>
                <a:effectLst/>
                <a:uFillTx/>
                <a:latin typeface="arial"/>
                <a:ea typeface="arial"/>
                <a:hlinkClick r:id="rId2"/>
              </a:rPr>
              <a:t>Slidesgo</a:t>
            </a:r>
            <a:r>
              <a:rPr lang="en" sz="1000" b="0" u="none" strike="noStrike">
                <a:solidFill>
                  <a:schemeClr val="accent1"/>
                </a:solidFill>
                <a:effectLst/>
                <a:uFillTx/>
                <a:latin typeface="arial"/>
                <a:ea typeface="arial"/>
              </a:rPr>
              <a:t>, and includes icons, infographics &amp; images by </a:t>
            </a:r>
            <a:r>
              <a:rPr lang="en" sz="1000" b="1" u="sng" strike="noStrike">
                <a:solidFill>
                  <a:schemeClr val="accent1"/>
                </a:solidFill>
                <a:effectLst/>
                <a:uFillTx/>
                <a:latin typeface="arial"/>
                <a:ea typeface="arial"/>
                <a:hlinkClick r:id="rId3"/>
              </a:rPr>
              <a:t>Freepik</a:t>
            </a:r>
            <a:r>
              <a:rPr lang="en" sz="1000" b="0" u="none" strike="noStrike">
                <a:solidFill>
                  <a:schemeClr val="accent1"/>
                </a:solidFill>
                <a:effectLst/>
                <a:uFillTx/>
                <a:latin typeface="arial"/>
                <a:ea typeface="arial"/>
              </a:rPr>
              <a:t>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121;p22"/>
          <p:cNvSpPr/>
          <p:nvPr/>
        </p:nvSpPr>
        <p:spPr>
          <a:xfrm>
            <a:off x="0" y="0"/>
            <a:ext cx="9143640" cy="515952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123;p23"/>
          <p:cNvSpPr/>
          <p:nvPr/>
        </p:nvSpPr>
        <p:spPr>
          <a:xfrm>
            <a:off x="0" y="-8280"/>
            <a:ext cx="9143640" cy="5159520"/>
          </a:xfrm>
          <a:prstGeom prst="rect">
            <a:avLst/>
          </a:prstGeom>
          <a:solidFill>
            <a:srgbClr val="4F5B4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17;p4"/>
          <p:cNvSpPr/>
          <p:nvPr/>
        </p:nvSpPr>
        <p:spPr>
          <a:xfrm>
            <a:off x="0" y="0"/>
            <a:ext cx="9143640" cy="515952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720000" y="1152360"/>
            <a:ext cx="7703640" cy="3416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AND_TWO_COLUMNS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21;p5"/>
          <p:cNvSpPr/>
          <p:nvPr/>
        </p:nvSpPr>
        <p:spPr>
          <a:xfrm>
            <a:off x="0" y="0"/>
            <a:ext cx="9143640" cy="515952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939000" y="294840"/>
            <a:ext cx="1976040" cy="745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28;p6"/>
          <p:cNvSpPr/>
          <p:nvPr/>
        </p:nvSpPr>
        <p:spPr>
          <a:xfrm>
            <a:off x="0" y="0"/>
            <a:ext cx="9143640" cy="515952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720000" y="27468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31;p7"/>
          <p:cNvSpPr/>
          <p:nvPr/>
        </p:nvSpPr>
        <p:spPr>
          <a:xfrm>
            <a:off x="0" y="0"/>
            <a:ext cx="9143640" cy="515952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3998160" cy="1445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1609560" y="2066040"/>
            <a:ext cx="3823920" cy="2532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5715720" y="0"/>
            <a:ext cx="342792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lnSpcReduction="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_POI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36;p8"/>
          <p:cNvSpPr/>
          <p:nvPr/>
        </p:nvSpPr>
        <p:spPr>
          <a:xfrm>
            <a:off x="0" y="0"/>
            <a:ext cx="9143640" cy="5159520"/>
          </a:xfrm>
          <a:prstGeom prst="rect">
            <a:avLst/>
          </a:pr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1388160" y="1307160"/>
            <a:ext cx="6367320" cy="2529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39;p9"/>
          <p:cNvSpPr/>
          <p:nvPr/>
        </p:nvSpPr>
        <p:spPr>
          <a:xfrm>
            <a:off x="0" y="0"/>
            <a:ext cx="9143640" cy="515952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PTION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67" name="PlaceHolder 2"/>
          <p:cNvSpPr>
            <a:spLocks noGrp="1"/>
          </p:cNvSpPr>
          <p:nvPr>
            <p:ph type="title"/>
          </p:nvPr>
        </p:nvSpPr>
        <p:spPr>
          <a:xfrm>
            <a:off x="228600" y="4521240"/>
            <a:ext cx="2822400" cy="39312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1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imple-light-2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129;p26"/>
          <p:cNvSpPr/>
          <p:nvPr/>
        </p:nvSpPr>
        <p:spPr>
          <a:xfrm>
            <a:off x="0" y="-10440"/>
            <a:ext cx="9143640" cy="11804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713160" y="539640"/>
            <a:ext cx="771732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132;p27"/>
          <p:cNvSpPr/>
          <p:nvPr/>
        </p:nvSpPr>
        <p:spPr>
          <a:xfrm>
            <a:off x="0" y="-10440"/>
            <a:ext cx="9143640" cy="11804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728640" y="539640"/>
            <a:ext cx="334728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72" name="PlaceHolder 2"/>
          <p:cNvSpPr>
            <a:spLocks noGrp="1"/>
          </p:cNvSpPr>
          <p:nvPr>
            <p:ph type="title"/>
          </p:nvPr>
        </p:nvSpPr>
        <p:spPr>
          <a:xfrm>
            <a:off x="4977720" y="539640"/>
            <a:ext cx="345816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oogle Shape;139;p28"/>
          <p:cNvGrpSpPr/>
          <p:nvPr/>
        </p:nvGrpSpPr>
        <p:grpSpPr>
          <a:xfrm>
            <a:off x="1524600" y="-18360"/>
            <a:ext cx="7680600" cy="5223960"/>
            <a:chOff x="1524600" y="-18360"/>
            <a:chExt cx="7680600" cy="5223960"/>
          </a:xfrm>
        </p:grpSpPr>
        <p:cxnSp>
          <p:nvCxnSpPr>
            <p:cNvPr id="74" name="Google Shape;140;p28"/>
            <p:cNvCxnSpPr/>
            <p:nvPr/>
          </p:nvCxnSpPr>
          <p:spPr>
            <a:xfrm>
              <a:off x="1536120" y="-18360"/>
              <a:ext cx="360" cy="5224320"/>
            </a:xfrm>
            <a:prstGeom prst="straightConnector1">
              <a:avLst/>
            </a:prstGeom>
            <a:ln w="9525">
              <a:solidFill>
                <a:srgbClr val="FFFFFF"/>
              </a:solidFill>
              <a:round/>
            </a:ln>
          </p:spPr>
        </p:cxnSp>
        <p:cxnSp>
          <p:nvCxnSpPr>
            <p:cNvPr id="75" name="Google Shape;141;p28"/>
            <p:cNvCxnSpPr/>
            <p:nvPr/>
          </p:nvCxnSpPr>
          <p:spPr>
            <a:xfrm flipH="1">
              <a:off x="1524600" y="3939480"/>
              <a:ext cx="7680960" cy="360"/>
            </a:xfrm>
            <a:prstGeom prst="straightConnector1">
              <a:avLst/>
            </a:prstGeom>
            <a:ln w="9525">
              <a:solidFill>
                <a:srgbClr val="FFFFFF"/>
              </a:solidFill>
              <a:round/>
            </a:ln>
          </p:spPr>
        </p:cxnSp>
      </p:grpSp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1987200" y="892394"/>
            <a:ext cx="6556320" cy="2840806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algn="r">
              <a:lnSpc>
                <a:spcPct val="80000"/>
              </a:lnSpc>
              <a:tabLst>
                <a:tab pos="0" algn="l"/>
              </a:tabLst>
            </a:pPr>
            <a:r>
              <a:rPr lang="en-US" sz="6600" b="0" u="none" strike="noStrike" dirty="0">
                <a:solidFill>
                  <a:schemeClr val="accent1"/>
                </a:solidFill>
                <a:effectLst/>
                <a:uFillTx/>
                <a:latin typeface="Zalando Sans Expanded ExtraLight"/>
                <a:ea typeface="Zalando Sans Expanded ExtraLight"/>
              </a:rPr>
              <a:t> Patient Discharge</a:t>
            </a:r>
            <a:r>
              <a:rPr lang="en-US" sz="8300" b="0" u="none" strike="noStrike" dirty="0">
                <a:solidFill>
                  <a:schemeClr val="accent1"/>
                </a:solidFill>
                <a:effectLst/>
                <a:uFillTx/>
                <a:latin typeface="Zalando Sans Expanded Medium"/>
                <a:ea typeface="Zalando Sans Expanded ExtraLight"/>
              </a:rPr>
              <a:t> Summaries</a:t>
            </a:r>
            <a:endParaRPr lang="fr-FR" sz="83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subTitle"/>
          </p:nvPr>
        </p:nvSpPr>
        <p:spPr>
          <a:xfrm>
            <a:off x="2165581" y="4219560"/>
            <a:ext cx="6378300" cy="561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85000" lnSpcReduction="10000"/>
          </a:bodyPr>
          <a:lstStyle/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 dirty="0">
                <a:solidFill>
                  <a:schemeClr val="accent1"/>
                </a:solidFill>
                <a:effectLst/>
                <a:uFillTx/>
                <a:latin typeface="arial"/>
                <a:ea typeface="arial"/>
              </a:rPr>
              <a:t>Generating Patient Discharge Summaries using distilGPT2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8" name="Google Shape;144;p28"/>
          <p:cNvSpPr/>
          <p:nvPr/>
        </p:nvSpPr>
        <p:spPr>
          <a:xfrm>
            <a:off x="165563" y="123840"/>
            <a:ext cx="919837" cy="55399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>
              <a:tabLst>
                <a:tab pos="0" algn="l"/>
              </a:tabLst>
            </a:pPr>
            <a:r>
              <a:rPr lang="en" sz="1200" b="0" u="none" strike="noStrike" dirty="0">
                <a:solidFill>
                  <a:schemeClr val="accent2"/>
                </a:solidFill>
                <a:effectLst/>
                <a:uFillTx/>
                <a:latin typeface="Arial"/>
              </a:rPr>
              <a:t>Talha Ahmed</a:t>
            </a:r>
            <a:br>
              <a:rPr lang="en" sz="1200" b="0" u="none" strike="noStrike" dirty="0">
                <a:solidFill>
                  <a:schemeClr val="accent2"/>
                </a:solidFill>
                <a:effectLst/>
                <a:uFillTx/>
                <a:latin typeface="Arial"/>
              </a:rPr>
            </a:br>
            <a:br>
              <a:rPr lang="en" sz="1200" b="0" u="none" strike="noStrike" dirty="0">
                <a:solidFill>
                  <a:schemeClr val="accent2"/>
                </a:solidFill>
                <a:effectLst/>
                <a:uFillTx/>
                <a:latin typeface="Arial"/>
              </a:rPr>
            </a:br>
            <a:r>
              <a:rPr lang="en" sz="1200" b="0" u="none" strike="noStrike" dirty="0">
                <a:solidFill>
                  <a:schemeClr val="accent2"/>
                </a:solidFill>
                <a:effectLst/>
                <a:uFillTx/>
                <a:latin typeface="Arial"/>
              </a:rPr>
              <a:t>018960110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217;p31"/>
          <p:cNvPicPr/>
          <p:nvPr/>
        </p:nvPicPr>
        <p:blipFill>
          <a:blip r:embed="rId2"/>
          <a:srcRect l="15215" r="12233"/>
          <a:stretch/>
        </p:blipFill>
        <p:spPr>
          <a:xfrm>
            <a:off x="6345000" y="0"/>
            <a:ext cx="279828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228600" y="295200"/>
            <a:ext cx="5324040" cy="1247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80000"/>
              </a:lnSpc>
              <a:buNone/>
              <a:tabLst>
                <a:tab pos="0" algn="l"/>
              </a:tabLst>
            </a:pPr>
            <a:r>
              <a:rPr lang="en-US" sz="2600" b="0" u="none" strike="noStrike" dirty="0">
                <a:solidFill>
                  <a:schemeClr val="dk1"/>
                </a:solidFill>
                <a:effectLst/>
                <a:uFillTx/>
                <a:latin typeface="Zalando Sans Expanded ExtraLight"/>
                <a:ea typeface="Zalando Sans Expanded ExtraLight"/>
              </a:rPr>
              <a:t>Problem Statement</a:t>
            </a:r>
            <a:endParaRPr lang="fr-FR" sz="26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/>
          </p:nvPr>
        </p:nvSpPr>
        <p:spPr>
          <a:xfrm>
            <a:off x="228599" y="1906496"/>
            <a:ext cx="5781431" cy="2941804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Clinical documentation is time-intensive yet crucial.</a:t>
            </a:r>
          </a:p>
          <a:p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Discharge summaries summarize a patient’s hospital stay.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Manual writing causes: High workload, inconsistent quality, and delays.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Goal: Automate discharge summary generation using Generative AI.</a:t>
            </a:r>
          </a:p>
        </p:txBody>
      </p:sp>
      <p:cxnSp>
        <p:nvCxnSpPr>
          <p:cNvPr id="82" name="Google Shape;220;p31"/>
          <p:cNvCxnSpPr/>
          <p:nvPr/>
        </p:nvCxnSpPr>
        <p:spPr>
          <a:xfrm flipH="1">
            <a:off x="0" y="1690560"/>
            <a:ext cx="6345360" cy="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cxnSp>
        <p:nvCxnSpPr>
          <p:cNvPr id="83" name="Google Shape;221;p31"/>
          <p:cNvCxnSpPr/>
          <p:nvPr/>
        </p:nvCxnSpPr>
        <p:spPr>
          <a:xfrm>
            <a:off x="6345000" y="-18360"/>
            <a:ext cx="360" cy="522432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226;p32"/>
          <p:cNvGrpSpPr/>
          <p:nvPr/>
        </p:nvGrpSpPr>
        <p:grpSpPr>
          <a:xfrm>
            <a:off x="1870200" y="-18360"/>
            <a:ext cx="7335000" cy="5223960"/>
            <a:chOff x="1870200" y="-18360"/>
            <a:chExt cx="7335000" cy="5223960"/>
          </a:xfrm>
        </p:grpSpPr>
        <p:cxnSp>
          <p:nvCxnSpPr>
            <p:cNvPr id="85" name="Google Shape;227;p32"/>
            <p:cNvCxnSpPr/>
            <p:nvPr/>
          </p:nvCxnSpPr>
          <p:spPr>
            <a:xfrm>
              <a:off x="1882080" y="-18360"/>
              <a:ext cx="360" cy="5224320"/>
            </a:xfrm>
            <a:prstGeom prst="straightConnector1">
              <a:avLst/>
            </a:prstGeom>
            <a:ln w="9525">
              <a:solidFill>
                <a:srgbClr val="FFFFFF"/>
              </a:solidFill>
              <a:round/>
            </a:ln>
          </p:spPr>
        </p:cxnSp>
        <p:cxnSp>
          <p:nvCxnSpPr>
            <p:cNvPr id="86" name="Google Shape;228;p32"/>
            <p:cNvCxnSpPr/>
            <p:nvPr/>
          </p:nvCxnSpPr>
          <p:spPr>
            <a:xfrm flipH="1">
              <a:off x="1870200" y="2844000"/>
              <a:ext cx="7335360" cy="360"/>
            </a:xfrm>
            <a:prstGeom prst="straightConnector1">
              <a:avLst/>
            </a:prstGeom>
            <a:ln w="9525">
              <a:solidFill>
                <a:srgbClr val="FFFFFF"/>
              </a:solidFill>
              <a:round/>
            </a:ln>
          </p:spPr>
        </p:cxnSp>
      </p:grpSp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2666880" y="3400560"/>
            <a:ext cx="6133680" cy="1056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/>
          <a:p>
            <a:pPr indent="0" algn="r">
              <a:lnSpc>
                <a:spcPct val="80000"/>
              </a:lnSpc>
              <a:buNone/>
              <a:tabLst>
                <a:tab pos="0" algn="l"/>
              </a:tabLst>
            </a:pPr>
            <a:r>
              <a:rPr lang="en-US" sz="4600" b="0" u="none" strike="noStrike">
                <a:solidFill>
                  <a:schemeClr val="accent1"/>
                </a:solidFill>
                <a:effectLst/>
                <a:uFillTx/>
                <a:latin typeface="Zalando Sans Expanded ExtraLight"/>
                <a:ea typeface="Zalando Sans Expanded ExtraLight"/>
              </a:rPr>
              <a:t>Project</a:t>
            </a:r>
            <a:r>
              <a:rPr lang="en-US" sz="4600" b="0" u="none" strike="noStrike">
                <a:solidFill>
                  <a:schemeClr val="accent1"/>
                </a:solidFill>
                <a:effectLst/>
                <a:uFillTx/>
                <a:latin typeface="Zalando Sans Expanded Medium"/>
                <a:ea typeface="Zalando Sans Expanded ExtraLight"/>
              </a:rPr>
              <a:t> Overview</a:t>
            </a:r>
            <a:endParaRPr lang="fr-FR" sz="4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title"/>
          </p:nvPr>
        </p:nvSpPr>
        <p:spPr>
          <a:xfrm>
            <a:off x="333360" y="228600"/>
            <a:ext cx="1266480" cy="12664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chemeClr val="accent2"/>
                </a:solidFill>
                <a:effectLst/>
                <a:uFillTx/>
                <a:latin typeface="Zalando Sans Expanded Medium"/>
                <a:ea typeface="Zalando Sans Expanded Medium"/>
              </a:rPr>
              <a:t>01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9" name="Google Shape;231;p32"/>
          <p:cNvSpPr/>
          <p:nvPr/>
        </p:nvSpPr>
        <p:spPr>
          <a:xfrm>
            <a:off x="8172360" y="123840"/>
            <a:ext cx="618840" cy="399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70823080" tIns="199800" rIns="870823080" bIns="199800"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217;p31"/>
          <p:cNvPicPr/>
          <p:nvPr/>
        </p:nvPicPr>
        <p:blipFill>
          <a:blip r:embed="rId2"/>
          <a:srcRect l="15215" r="12233"/>
          <a:stretch/>
        </p:blipFill>
        <p:spPr>
          <a:xfrm>
            <a:off x="6345000" y="0"/>
            <a:ext cx="2798280" cy="514332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98" name="Google Shape;220;p31"/>
          <p:cNvCxnSpPr/>
          <p:nvPr/>
        </p:nvCxnSpPr>
        <p:spPr>
          <a:xfrm flipH="1">
            <a:off x="0" y="1690560"/>
            <a:ext cx="6345360" cy="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cxnSp>
        <p:nvCxnSpPr>
          <p:cNvPr id="99" name="Google Shape;221;p31"/>
          <p:cNvCxnSpPr/>
          <p:nvPr/>
        </p:nvCxnSpPr>
        <p:spPr>
          <a:xfrm>
            <a:off x="6345000" y="-18360"/>
            <a:ext cx="360" cy="522432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sp>
        <p:nvSpPr>
          <p:cNvPr id="4" name="PlaceHolder 1">
            <a:extLst>
              <a:ext uri="{FF2B5EF4-FFF2-40B4-BE49-F238E27FC236}">
                <a16:creationId xmlns:a16="http://schemas.microsoft.com/office/drawing/2014/main" id="{4F5CA8F6-C27E-7654-9807-B2F023198261}"/>
              </a:ext>
            </a:extLst>
          </p:cNvPr>
          <p:cNvSpPr txBox="1">
            <a:spLocks/>
          </p:cNvSpPr>
          <p:nvPr/>
        </p:nvSpPr>
        <p:spPr>
          <a:xfrm>
            <a:off x="419040" y="476280"/>
            <a:ext cx="7486200" cy="1209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US" sz="4000" dirty="0">
                <a:solidFill>
                  <a:schemeClr val="dk1"/>
                </a:solidFill>
                <a:latin typeface="Zalando Sans Expanded Medium"/>
                <a:ea typeface="Zalando Sans Expanded ExtraLight"/>
              </a:rPr>
              <a:t>Objectives</a:t>
            </a:r>
            <a:endParaRPr lang="fr-FR" sz="4000" dirty="0">
              <a:solidFill>
                <a:schemeClr val="dk1"/>
              </a:solidFill>
              <a:latin typeface="Arial"/>
            </a:endParaRPr>
          </a:p>
        </p:txBody>
      </p:sp>
      <p:sp>
        <p:nvSpPr>
          <p:cNvPr id="7" name="PlaceHolder 2">
            <a:extLst>
              <a:ext uri="{FF2B5EF4-FFF2-40B4-BE49-F238E27FC236}">
                <a16:creationId xmlns:a16="http://schemas.microsoft.com/office/drawing/2014/main" id="{6A079F4C-1889-E8FA-BCF9-DF7D793540E3}"/>
              </a:ext>
            </a:extLst>
          </p:cNvPr>
          <p:cNvSpPr txBox="1">
            <a:spLocks/>
          </p:cNvSpPr>
          <p:nvPr/>
        </p:nvSpPr>
        <p:spPr>
          <a:xfrm>
            <a:off x="-1" y="1820581"/>
            <a:ext cx="6135077" cy="30493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defTabSz="457200">
              <a:lnSpc>
                <a:spcPct val="100000"/>
              </a:lnSpc>
              <a:spcBef>
                <a:spcPct val="20000"/>
              </a:spcBef>
              <a:buFont typeface="Arial"/>
              <a:buChar char="•"/>
              <a:defRPr/>
            </a:pPr>
            <a:r>
              <a:rPr lang="en-US" sz="180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Build a Transformer-based model using distilGPT2.</a:t>
            </a:r>
          </a:p>
          <a:p>
            <a:pPr marL="342900" indent="-342900" defTabSz="457200">
              <a:lnSpc>
                <a:spcPct val="100000"/>
              </a:lnSpc>
              <a:spcBef>
                <a:spcPct val="20000"/>
              </a:spcBef>
              <a:buFont typeface="Arial"/>
              <a:buChar char="•"/>
              <a:defRPr/>
            </a:pPr>
            <a:endParaRPr lang="en-US" sz="18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  <a:p>
            <a:pPr marL="342900" indent="-342900" defTabSz="457200">
              <a:lnSpc>
                <a:spcPct val="100000"/>
              </a:lnSpc>
              <a:spcBef>
                <a:spcPct val="20000"/>
              </a:spcBef>
              <a:buFont typeface="Arial"/>
              <a:buChar char="•"/>
              <a:defRPr/>
            </a:pPr>
            <a:r>
              <a:rPr lang="en-US" sz="180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Input: Structured patient data.</a:t>
            </a:r>
          </a:p>
          <a:p>
            <a:pPr marL="342900" indent="-342900" defTabSz="457200">
              <a:lnSpc>
                <a:spcPct val="100000"/>
              </a:lnSpc>
              <a:spcBef>
                <a:spcPct val="20000"/>
              </a:spcBef>
              <a:buFont typeface="Arial"/>
              <a:buChar char="•"/>
              <a:defRPr/>
            </a:pPr>
            <a:endParaRPr lang="en-US" sz="18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  <a:p>
            <a:pPr marL="342900" indent="-342900" defTabSz="457200">
              <a:lnSpc>
                <a:spcPct val="100000"/>
              </a:lnSpc>
              <a:spcBef>
                <a:spcPct val="20000"/>
              </a:spcBef>
              <a:buFont typeface="Arial"/>
              <a:buChar char="•"/>
              <a:defRPr/>
            </a:pPr>
            <a:r>
              <a:rPr lang="en-US" sz="180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Output: Human-like discharge summaries.</a:t>
            </a:r>
          </a:p>
          <a:p>
            <a:pPr marL="342900" indent="-342900" defTabSz="457200">
              <a:lnSpc>
                <a:spcPct val="100000"/>
              </a:lnSpc>
              <a:spcBef>
                <a:spcPct val="20000"/>
              </a:spcBef>
              <a:buFont typeface="Arial"/>
              <a:buChar char="•"/>
              <a:defRPr/>
            </a:pPr>
            <a:endParaRPr lang="en-US" sz="18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  <a:p>
            <a:pPr marL="342900" indent="-342900" defTabSz="457200">
              <a:lnSpc>
                <a:spcPct val="100000"/>
              </a:lnSpc>
              <a:spcBef>
                <a:spcPct val="20000"/>
              </a:spcBef>
              <a:buFont typeface="Arial"/>
              <a:buChar char="•"/>
              <a:defRPr/>
            </a:pPr>
            <a:r>
              <a:rPr lang="en-US" sz="180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Aims: Reduce documentation time, standardize summaries, and demonstrate NLP’s potential in healthcare.</a:t>
            </a:r>
            <a:endParaRPr lang="en-US" sz="600" dirty="0">
              <a:solidFill>
                <a:srgbClr val="000000"/>
              </a:solidFill>
              <a:latin typeface="OpenSymbo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236;p33"/>
          <p:cNvGrpSpPr/>
          <p:nvPr/>
        </p:nvGrpSpPr>
        <p:grpSpPr>
          <a:xfrm>
            <a:off x="-43560" y="-18360"/>
            <a:ext cx="8695080" cy="5223960"/>
            <a:chOff x="-43560" y="-18360"/>
            <a:chExt cx="8695080" cy="5223960"/>
          </a:xfrm>
        </p:grpSpPr>
        <p:cxnSp>
          <p:nvCxnSpPr>
            <p:cNvPr id="101" name="Google Shape;237;p33"/>
            <p:cNvCxnSpPr/>
            <p:nvPr/>
          </p:nvCxnSpPr>
          <p:spPr>
            <a:xfrm>
              <a:off x="8646120" y="-18360"/>
              <a:ext cx="360" cy="522432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102" name="Google Shape;238;p33"/>
            <p:cNvCxnSpPr/>
            <p:nvPr/>
          </p:nvCxnSpPr>
          <p:spPr>
            <a:xfrm flipH="1">
              <a:off x="-43560" y="2094120"/>
              <a:ext cx="869544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</p:grpSp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419040" y="476280"/>
            <a:ext cx="7486200" cy="1209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80000"/>
              </a:lnSpc>
              <a:buNone/>
              <a:tabLst>
                <a:tab pos="0" algn="l"/>
              </a:tabLst>
            </a:pPr>
            <a:r>
              <a:rPr lang="en-US" sz="4000" b="0" u="none" strike="noStrike" dirty="0">
                <a:solidFill>
                  <a:schemeClr val="dk1"/>
                </a:solidFill>
                <a:effectLst/>
                <a:uFillTx/>
                <a:latin typeface="Zalando Sans Expanded ExtraLight"/>
                <a:ea typeface="Zalando Sans Expanded ExtraLight"/>
              </a:rPr>
              <a:t>Dataset Description and</a:t>
            </a:r>
            <a:r>
              <a:rPr lang="en-US" sz="4000" b="0" u="none" strike="noStrike" dirty="0">
                <a:solidFill>
                  <a:schemeClr val="dk1"/>
                </a:solidFill>
                <a:effectLst/>
                <a:uFillTx/>
                <a:latin typeface="Zalando Sans Expanded Medium"/>
                <a:ea typeface="Zalando Sans Expanded ExtraLight"/>
              </a:rPr>
              <a:t> Preprocessing</a:t>
            </a:r>
            <a:endParaRPr lang="fr-FR" sz="40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 type="subTitle"/>
          </p:nvPr>
        </p:nvSpPr>
        <p:spPr>
          <a:xfrm>
            <a:off x="0" y="2094120"/>
            <a:ext cx="8646120" cy="30483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Dataset: BHC-MIMIC-IV Summary (from Kaggle).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Based on the MIMIC-IV clinical database.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Each record: Input → Patient info; Target → Human-written summary.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Input length: 400–800 tokens; Output: 700–1000 tokens.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lang="en-US" sz="16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  <a:p>
            <a:pPr marL="342900" indent="-342900" defTabSz="457200">
              <a:lnSpc>
                <a:spcPct val="100000"/>
              </a:lnSpc>
              <a:spcBef>
                <a:spcPct val="20000"/>
              </a:spcBef>
              <a:buFont typeface="Arial"/>
              <a:buChar char="•"/>
              <a:defRPr/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Partitioning: Split into 70% train, 15% validation, 15% test; converted to Hugging Face dataset format.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" name="Google Shape;226;p32"/>
          <p:cNvGrpSpPr/>
          <p:nvPr/>
        </p:nvGrpSpPr>
        <p:grpSpPr>
          <a:xfrm>
            <a:off x="1870200" y="-18360"/>
            <a:ext cx="7335000" cy="5223960"/>
            <a:chOff x="1870200" y="-18360"/>
            <a:chExt cx="7335000" cy="5223960"/>
          </a:xfrm>
        </p:grpSpPr>
        <p:cxnSp>
          <p:nvCxnSpPr>
            <p:cNvPr id="106" name="Google Shape;227;p32"/>
            <p:cNvCxnSpPr/>
            <p:nvPr/>
          </p:nvCxnSpPr>
          <p:spPr>
            <a:xfrm>
              <a:off x="1882080" y="-18360"/>
              <a:ext cx="360" cy="5224320"/>
            </a:xfrm>
            <a:prstGeom prst="straightConnector1">
              <a:avLst/>
            </a:prstGeom>
            <a:ln w="9525">
              <a:solidFill>
                <a:srgbClr val="FFFFFF"/>
              </a:solidFill>
              <a:round/>
            </a:ln>
          </p:spPr>
        </p:cxnSp>
        <p:cxnSp>
          <p:nvCxnSpPr>
            <p:cNvPr id="107" name="Google Shape;228;p32"/>
            <p:cNvCxnSpPr/>
            <p:nvPr/>
          </p:nvCxnSpPr>
          <p:spPr>
            <a:xfrm flipH="1">
              <a:off x="1870200" y="2844000"/>
              <a:ext cx="7335360" cy="360"/>
            </a:xfrm>
            <a:prstGeom prst="straightConnector1">
              <a:avLst/>
            </a:prstGeom>
            <a:ln w="9525">
              <a:solidFill>
                <a:srgbClr val="FFFFFF"/>
              </a:solidFill>
              <a:round/>
            </a:ln>
          </p:spPr>
        </p:cxnSp>
      </p:grpSp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2666880" y="3400560"/>
            <a:ext cx="6133680" cy="1056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 fontScale="90000"/>
          </a:bodyPr>
          <a:lstStyle/>
          <a:p>
            <a:pPr indent="0" algn="r">
              <a:lnSpc>
                <a:spcPct val="80000"/>
              </a:lnSpc>
              <a:buNone/>
              <a:tabLst>
                <a:tab pos="0" algn="l"/>
              </a:tabLst>
            </a:pPr>
            <a:r>
              <a:rPr lang="en-US" sz="4600" b="0" u="none" strike="noStrike">
                <a:solidFill>
                  <a:schemeClr val="accent1"/>
                </a:solidFill>
                <a:effectLst/>
                <a:uFillTx/>
                <a:latin typeface="Zalando Sans Expanded ExtraLight"/>
                <a:ea typeface="Zalando Sans Expanded ExtraLight"/>
              </a:rPr>
              <a:t>Model Development and</a:t>
            </a:r>
            <a:r>
              <a:rPr lang="en-US" sz="4600" b="0" u="none" strike="noStrike">
                <a:solidFill>
                  <a:schemeClr val="accent1"/>
                </a:solidFill>
                <a:effectLst/>
                <a:uFillTx/>
                <a:latin typeface="Zalando Sans Expanded Medium"/>
                <a:ea typeface="Zalando Sans Expanded ExtraLight"/>
              </a:rPr>
              <a:t> Evaluation</a:t>
            </a:r>
            <a:endParaRPr lang="fr-FR" sz="4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title"/>
          </p:nvPr>
        </p:nvSpPr>
        <p:spPr>
          <a:xfrm>
            <a:off x="333360" y="228600"/>
            <a:ext cx="1266480" cy="12664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chemeClr val="accent2"/>
                </a:solidFill>
                <a:effectLst/>
                <a:uFillTx/>
                <a:latin typeface="Zalando Sans Expanded Medium"/>
                <a:ea typeface="Zalando Sans Expanded Medium"/>
              </a:rPr>
              <a:t>02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0" name="Google Shape;231;p32"/>
          <p:cNvSpPr/>
          <p:nvPr/>
        </p:nvSpPr>
        <p:spPr>
          <a:xfrm>
            <a:off x="8172360" y="123840"/>
            <a:ext cx="618840" cy="399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70823080" tIns="199800" rIns="870823080" bIns="199800"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" name="Google Shape;236;p33"/>
          <p:cNvGrpSpPr/>
          <p:nvPr/>
        </p:nvGrpSpPr>
        <p:grpSpPr>
          <a:xfrm>
            <a:off x="-43560" y="-18360"/>
            <a:ext cx="8695080" cy="5223960"/>
            <a:chOff x="-43560" y="-18360"/>
            <a:chExt cx="8695080" cy="5223960"/>
          </a:xfrm>
        </p:grpSpPr>
        <p:cxnSp>
          <p:nvCxnSpPr>
            <p:cNvPr id="112" name="Google Shape;237;p33"/>
            <p:cNvCxnSpPr/>
            <p:nvPr/>
          </p:nvCxnSpPr>
          <p:spPr>
            <a:xfrm>
              <a:off x="8646120" y="-18360"/>
              <a:ext cx="360" cy="522432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113" name="Google Shape;238;p33"/>
            <p:cNvCxnSpPr/>
            <p:nvPr/>
          </p:nvCxnSpPr>
          <p:spPr>
            <a:xfrm flipH="1">
              <a:off x="-43560" y="2094120"/>
              <a:ext cx="869544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</p:grpSp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419040" y="476280"/>
            <a:ext cx="7486200" cy="1209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80000"/>
              </a:lnSpc>
              <a:buNone/>
              <a:tabLst>
                <a:tab pos="0" algn="l"/>
              </a:tabLst>
            </a:pPr>
            <a:r>
              <a:rPr lang="en-US" sz="4000" b="0" u="none" strike="noStrike">
                <a:solidFill>
                  <a:schemeClr val="dk1"/>
                </a:solidFill>
                <a:effectLst/>
                <a:uFillTx/>
                <a:latin typeface="Zalando Sans Expanded ExtraLight"/>
                <a:ea typeface="Zalando Sans Expanded ExtraLight"/>
              </a:rPr>
              <a:t>Training Methodology and</a:t>
            </a:r>
            <a:r>
              <a:rPr lang="en-US" sz="4000" b="0" u="none" strike="noStrike">
                <a:solidFill>
                  <a:schemeClr val="dk1"/>
                </a:solidFill>
                <a:effectLst/>
                <a:uFillTx/>
                <a:latin typeface="Zalando Sans Expanded Medium"/>
                <a:ea typeface="Zalando Sans Expanded ExtraLight"/>
              </a:rPr>
              <a:t> Details</a:t>
            </a:r>
            <a:endParaRPr lang="fr-FR" sz="4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 type="subTitle"/>
          </p:nvPr>
        </p:nvSpPr>
        <p:spPr>
          <a:xfrm>
            <a:off x="0" y="2150388"/>
            <a:ext cx="8639640" cy="2993112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Model: distilGPT2 (Autoregressive Transformer).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Configuration: Token limit 1024,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AdamW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optimizer, LR=1e-4, batch size=2, epochs=6.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Trained using Hugging Face Seq2SeqTrainer with GPU acceleration.</a:t>
            </a: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217;p31"/>
          <p:cNvPicPr/>
          <p:nvPr/>
        </p:nvPicPr>
        <p:blipFill>
          <a:blip r:embed="rId2"/>
          <a:srcRect l="15215" r="12233"/>
          <a:stretch/>
        </p:blipFill>
        <p:spPr>
          <a:xfrm>
            <a:off x="6345000" y="0"/>
            <a:ext cx="279828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228600" y="295200"/>
            <a:ext cx="5324040" cy="1247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80000"/>
              </a:lnSpc>
              <a:buNone/>
              <a:tabLst>
                <a:tab pos="0" algn="l"/>
              </a:tabLst>
            </a:pPr>
            <a:r>
              <a:rPr lang="en-US" sz="2600" b="0" u="none" strike="noStrike" dirty="0">
                <a:solidFill>
                  <a:schemeClr val="dk1"/>
                </a:solidFill>
                <a:effectLst/>
                <a:uFillTx/>
                <a:latin typeface="Zalando Sans Expanded ExtraLight"/>
                <a:ea typeface="Zalando Sans Expanded ExtraLight"/>
              </a:rPr>
              <a:t>Evaluation Metrics and</a:t>
            </a:r>
            <a:r>
              <a:rPr lang="en-US" sz="2600" b="0" u="none" strike="noStrike" dirty="0">
                <a:solidFill>
                  <a:schemeClr val="dk1"/>
                </a:solidFill>
                <a:effectLst/>
                <a:uFillTx/>
                <a:latin typeface="Zalando Sans Expanded Medium"/>
                <a:ea typeface="Zalando Sans Expanded ExtraLight"/>
              </a:rPr>
              <a:t> Interpretation</a:t>
            </a:r>
            <a:endParaRPr lang="fr-FR" sz="26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/>
          </p:nvPr>
        </p:nvSpPr>
        <p:spPr>
          <a:xfrm>
            <a:off x="-4320" y="1690560"/>
            <a:ext cx="6345360" cy="3470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ROUGE-1: 0.2626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ROUGE-2: 0.0683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ROUGE-L: 0.1147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ROUGE-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Lsum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 0.162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BERTScore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(F1): 0.8109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ROUGE → Moderate lexical overlap.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BERTScore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→ High semantic similarity to reference summaries.</a:t>
            </a: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endParaRPr lang="fr-FR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19" name="Google Shape;220;p31"/>
          <p:cNvCxnSpPr/>
          <p:nvPr/>
        </p:nvCxnSpPr>
        <p:spPr>
          <a:xfrm flipH="1">
            <a:off x="0" y="1690560"/>
            <a:ext cx="6345360" cy="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cxnSp>
        <p:nvCxnSpPr>
          <p:cNvPr id="120" name="Google Shape;221;p31"/>
          <p:cNvCxnSpPr/>
          <p:nvPr/>
        </p:nvCxnSpPr>
        <p:spPr>
          <a:xfrm>
            <a:off x="6345000" y="-18360"/>
            <a:ext cx="360" cy="522432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" name="Google Shape;236;p33"/>
          <p:cNvGrpSpPr/>
          <p:nvPr/>
        </p:nvGrpSpPr>
        <p:grpSpPr>
          <a:xfrm>
            <a:off x="-43560" y="-18360"/>
            <a:ext cx="8695080" cy="5223960"/>
            <a:chOff x="-43560" y="-18360"/>
            <a:chExt cx="8695080" cy="5223960"/>
          </a:xfrm>
        </p:grpSpPr>
        <p:cxnSp>
          <p:nvCxnSpPr>
            <p:cNvPr id="122" name="Google Shape;237;p33"/>
            <p:cNvCxnSpPr/>
            <p:nvPr/>
          </p:nvCxnSpPr>
          <p:spPr>
            <a:xfrm>
              <a:off x="8646120" y="-18360"/>
              <a:ext cx="360" cy="522432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123" name="Google Shape;238;p33"/>
            <p:cNvCxnSpPr/>
            <p:nvPr/>
          </p:nvCxnSpPr>
          <p:spPr>
            <a:xfrm flipH="1">
              <a:off x="-43560" y="2094120"/>
              <a:ext cx="869544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</p:grpSp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419040" y="476280"/>
            <a:ext cx="7486200" cy="1209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80000"/>
              </a:lnSpc>
              <a:buNone/>
              <a:tabLst>
                <a:tab pos="0" algn="l"/>
              </a:tabLst>
            </a:pPr>
            <a:r>
              <a:rPr lang="en-US" sz="4000" b="0" u="none" strike="noStrike" dirty="0">
                <a:solidFill>
                  <a:schemeClr val="dk1"/>
                </a:solidFill>
                <a:effectLst/>
                <a:uFillTx/>
                <a:latin typeface="Zalando Sans Expanded ExtraLight"/>
                <a:ea typeface="Zalando Sans Expanded ExtraLight"/>
              </a:rPr>
              <a:t>Results</a:t>
            </a:r>
            <a:r>
              <a:rPr lang="en-US" sz="4000" dirty="0">
                <a:solidFill>
                  <a:schemeClr val="dk1"/>
                </a:solidFill>
                <a:latin typeface="Zalando Sans Expanded ExtraLight"/>
                <a:ea typeface="Zalando Sans Expanded ExtraLight"/>
              </a:rPr>
              <a:t> &amp; </a:t>
            </a:r>
            <a:r>
              <a:rPr lang="en-US" sz="4000" b="0" u="none" strike="noStrike" dirty="0">
                <a:solidFill>
                  <a:schemeClr val="dk1"/>
                </a:solidFill>
                <a:effectLst/>
                <a:uFillTx/>
                <a:latin typeface="Zalando Sans Expanded ExtraLight"/>
                <a:ea typeface="Zalando Sans Expanded ExtraLight"/>
              </a:rPr>
              <a:t>Insights</a:t>
            </a:r>
            <a:endParaRPr lang="fr-FR" sz="40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5" name="PlaceHolder 2"/>
          <p:cNvSpPr>
            <a:spLocks noGrp="1"/>
          </p:cNvSpPr>
          <p:nvPr>
            <p:ph type="subTitle"/>
          </p:nvPr>
        </p:nvSpPr>
        <p:spPr>
          <a:xfrm>
            <a:off x="0" y="2094120"/>
            <a:ext cx="8651880" cy="30493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Input: Patient admitted with cough, wheezing, shortness of breath.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Generated Summary: Patient treated for viral bronchitis; discharged stable.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Observations: Coherent, clinically logical, with minor generalization issues.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Challenges: Noisy text, token limitation, adapting general model to clinical data.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Insights: Model learned clinical structure effectively; demonstrated automation potential.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6" name="Google Shape;236;p33"/>
          <p:cNvGrpSpPr/>
          <p:nvPr/>
        </p:nvGrpSpPr>
        <p:grpSpPr>
          <a:xfrm>
            <a:off x="-43560" y="-18360"/>
            <a:ext cx="8695080" cy="5223960"/>
            <a:chOff x="-43560" y="-18360"/>
            <a:chExt cx="8695080" cy="5223960"/>
          </a:xfrm>
        </p:grpSpPr>
        <p:cxnSp>
          <p:nvCxnSpPr>
            <p:cNvPr id="127" name="Google Shape;237;p33"/>
            <p:cNvCxnSpPr/>
            <p:nvPr/>
          </p:nvCxnSpPr>
          <p:spPr>
            <a:xfrm>
              <a:off x="8646120" y="-18360"/>
              <a:ext cx="360" cy="522432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128" name="Google Shape;238;p33"/>
            <p:cNvCxnSpPr/>
            <p:nvPr/>
          </p:nvCxnSpPr>
          <p:spPr>
            <a:xfrm flipH="1">
              <a:off x="-43560" y="2094120"/>
              <a:ext cx="869544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</p:grpSp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419040" y="476280"/>
            <a:ext cx="7486200" cy="1209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80000"/>
              </a:lnSpc>
              <a:buNone/>
              <a:tabLst>
                <a:tab pos="0" algn="l"/>
              </a:tabLst>
            </a:pPr>
            <a:r>
              <a:rPr lang="en-US" sz="4000" b="0" u="none" strike="noStrike" dirty="0">
                <a:solidFill>
                  <a:schemeClr val="dk1"/>
                </a:solidFill>
                <a:effectLst/>
                <a:uFillTx/>
                <a:latin typeface="Zalando Sans Expanded ExtraLight"/>
                <a:ea typeface="Zalando Sans Expanded ExtraLight"/>
              </a:rPr>
              <a:t>Conclusions</a:t>
            </a:r>
            <a:endParaRPr lang="fr-FR" sz="40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 type="subTitle"/>
          </p:nvPr>
        </p:nvSpPr>
        <p:spPr>
          <a:xfrm>
            <a:off x="178560" y="2094120"/>
            <a:ext cx="8467560" cy="30493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Use larger models (GPT-2 Medium, T5-base).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Add medical embeddings (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BioBERT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ClinicalBERT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Include BLEU, METEOR, human evaluation.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1" name="Google Shape;351;p41"/>
          <p:cNvGrpSpPr/>
          <p:nvPr/>
        </p:nvGrpSpPr>
        <p:grpSpPr>
          <a:xfrm>
            <a:off x="1524600" y="-18360"/>
            <a:ext cx="7680600" cy="5223960"/>
            <a:chOff x="1524600" y="-18360"/>
            <a:chExt cx="7680600" cy="5223960"/>
          </a:xfrm>
        </p:grpSpPr>
        <p:cxnSp>
          <p:nvCxnSpPr>
            <p:cNvPr id="132" name="Google Shape;352;p41"/>
            <p:cNvCxnSpPr/>
            <p:nvPr/>
          </p:nvCxnSpPr>
          <p:spPr>
            <a:xfrm>
              <a:off x="1536120" y="-18360"/>
              <a:ext cx="360" cy="5224320"/>
            </a:xfrm>
            <a:prstGeom prst="straightConnector1">
              <a:avLst/>
            </a:prstGeom>
            <a:ln w="9525">
              <a:solidFill>
                <a:srgbClr val="FFFFFF"/>
              </a:solidFill>
              <a:round/>
            </a:ln>
          </p:spPr>
        </p:cxnSp>
        <p:cxnSp>
          <p:nvCxnSpPr>
            <p:cNvPr id="133" name="Google Shape;353;p41"/>
            <p:cNvCxnSpPr/>
            <p:nvPr/>
          </p:nvCxnSpPr>
          <p:spPr>
            <a:xfrm flipH="1">
              <a:off x="1524600" y="3261600"/>
              <a:ext cx="7680960" cy="360"/>
            </a:xfrm>
            <a:prstGeom prst="straightConnector1">
              <a:avLst/>
            </a:prstGeom>
            <a:ln w="9525">
              <a:solidFill>
                <a:srgbClr val="FFFFFF"/>
              </a:solidFill>
              <a:round/>
            </a:ln>
          </p:spPr>
        </p:cxnSp>
      </p:grpSp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5543640" y="50400"/>
            <a:ext cx="3371400" cy="1920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spAutoFit/>
          </a:bodyPr>
          <a:lstStyle/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5700" b="0" u="none" strike="noStrike">
                <a:solidFill>
                  <a:schemeClr val="accent1"/>
                </a:solidFill>
                <a:effectLst/>
                <a:uFillTx/>
                <a:latin typeface="Zalando Sans Expanded ExtraLight"/>
                <a:ea typeface="Zalando Sans Expanded ExtraLight"/>
              </a:rPr>
              <a:t>THANK YOU</a:t>
            </a:r>
            <a:endParaRPr lang="fr-FR" sz="57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6" name="Google Shape;366;p41"/>
          <p:cNvSpPr/>
          <p:nvPr/>
        </p:nvSpPr>
        <p:spPr>
          <a:xfrm>
            <a:off x="466560" y="123840"/>
            <a:ext cx="618840" cy="399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" sz="1200" b="0" u="none" strike="noStrike">
                <a:solidFill>
                  <a:schemeClr val="accent2"/>
                </a:solidFill>
                <a:effectLst/>
                <a:uFillTx/>
                <a:latin typeface="Arial"/>
              </a:rPr>
              <a:t>2XXX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6A73C3-0C91-B67A-3670-2638615157E1}"/>
              </a:ext>
            </a:extLst>
          </p:cNvPr>
          <p:cNvSpPr/>
          <p:nvPr/>
        </p:nvSpPr>
        <p:spPr>
          <a:xfrm>
            <a:off x="1977292" y="3774831"/>
            <a:ext cx="4321908" cy="859692"/>
          </a:xfrm>
          <a:prstGeom prst="rect">
            <a:avLst/>
          </a:prstGeom>
          <a:solidFill>
            <a:srgbClr val="4E5B4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4E5B4D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nior Defense by Slidesgo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FFFFFF"/>
      </a:accent1>
      <a:accent2>
        <a:srgbClr val="D9D5BA"/>
      </a:accent2>
      <a:accent3>
        <a:srgbClr val="4F5B4D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FFFFFF"/>
      </a:dk1>
      <a:lt1>
        <a:srgbClr val="22244E"/>
      </a:lt1>
      <a:dk2>
        <a:srgbClr val="503259"/>
      </a:dk2>
      <a:lt2>
        <a:srgbClr val="765186"/>
      </a:lt2>
      <a:accent1>
        <a:srgbClr val="B07CC6"/>
      </a:accent1>
      <a:accent2>
        <a:srgbClr val="FAF6E7"/>
      </a:accent2>
      <a:accent3>
        <a:srgbClr val="E3DFD2"/>
      </a:accent3>
      <a:accent4>
        <a:srgbClr val="FFFFFF"/>
      </a:accent4>
      <a:accent5>
        <a:srgbClr val="FFFFFF"/>
      </a:accent5>
      <a:accent6>
        <a:srgbClr val="FFFFFF"/>
      </a:accent6>
      <a:hlink>
        <a:srgbClr val="765186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</TotalTime>
  <Words>339</Words>
  <Application>Microsoft Macintosh PowerPoint</Application>
  <PresentationFormat>On-screen Show (16:9)</PresentationFormat>
  <Paragraphs>65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22" baseType="lpstr">
      <vt:lpstr>Aptos</vt:lpstr>
      <vt:lpstr>Arial</vt:lpstr>
      <vt:lpstr>Arial</vt:lpstr>
      <vt:lpstr>Calibri</vt:lpstr>
      <vt:lpstr>OpenSymbol</vt:lpstr>
      <vt:lpstr>Symbol</vt:lpstr>
      <vt:lpstr>Wingdings</vt:lpstr>
      <vt:lpstr>Zalando Sans Expanded ExtraLight</vt:lpstr>
      <vt:lpstr>Zalando Sans Expanded Medium</vt:lpstr>
      <vt:lpstr>Senior Defense by Slidesgo</vt:lpstr>
      <vt:lpstr>Slidesgo Final Pages</vt:lpstr>
      <vt:lpstr> Patient Discharge Summaries</vt:lpstr>
      <vt:lpstr>Problem Statement</vt:lpstr>
      <vt:lpstr>Project Overview</vt:lpstr>
      <vt:lpstr>PowerPoint Presentation</vt:lpstr>
      <vt:lpstr>Dataset Description and Preprocessing</vt:lpstr>
      <vt:lpstr>Model Development and Evaluation</vt:lpstr>
      <vt:lpstr>Training Methodology and Details</vt:lpstr>
      <vt:lpstr>Evaluation Metrics and Interpretation</vt:lpstr>
      <vt:lpstr>Results &amp; Insights</vt:lpstr>
      <vt:lpstr>Conclusions</vt:lpstr>
      <vt:lpstr>THANK YOU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Talha Ahmed</cp:lastModifiedBy>
  <cp:revision>39</cp:revision>
  <dcterms:modified xsi:type="dcterms:W3CDTF">2025-11-11T07:31:01Z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2025-11-11T07:12:40Z</dcterms:created>
  <dc:creator>Unknown Creator</dc:creator>
  <dc:description/>
  <dc:language>en-US</dc:language>
  <cp:lastModifiedBy>Unknown Creator</cp:lastModifiedBy>
  <dcterms:modified xsi:type="dcterms:W3CDTF">2025-11-11T07:12:40Z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</Properties>
</file>